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1" r:id="rId2"/>
  </p:sldMasterIdLst>
  <p:notesMasterIdLst>
    <p:notesMasterId r:id="rId20"/>
  </p:notesMasterIdLst>
  <p:handoutMasterIdLst>
    <p:handoutMasterId r:id="rId21"/>
  </p:handoutMasterIdLst>
  <p:sldIdLst>
    <p:sldId id="459" r:id="rId3"/>
    <p:sldId id="394" r:id="rId4"/>
    <p:sldId id="256" r:id="rId5"/>
    <p:sldId id="257" r:id="rId6"/>
    <p:sldId id="472" r:id="rId7"/>
    <p:sldId id="473" r:id="rId8"/>
    <p:sldId id="476" r:id="rId9"/>
    <p:sldId id="474" r:id="rId10"/>
    <p:sldId id="475" r:id="rId11"/>
    <p:sldId id="262" r:id="rId12"/>
    <p:sldId id="263" r:id="rId13"/>
    <p:sldId id="264" r:id="rId14"/>
    <p:sldId id="258" r:id="rId15"/>
    <p:sldId id="259" r:id="rId16"/>
    <p:sldId id="261" r:id="rId17"/>
    <p:sldId id="265" r:id="rId18"/>
    <p:sldId id="468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9" userDrawn="1">
          <p15:clr>
            <a:srgbClr val="A4A3A4"/>
          </p15:clr>
        </p15:guide>
        <p15:guide id="2" pos="159" userDrawn="1">
          <p15:clr>
            <a:srgbClr val="A4A3A4"/>
          </p15:clr>
        </p15:guide>
        <p15:guide id="3" pos="5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E7E7"/>
    <a:srgbClr val="ABA2A2"/>
    <a:srgbClr val="14498A"/>
    <a:srgbClr val="D9D9D9"/>
    <a:srgbClr val="064792"/>
    <a:srgbClr val="FDE2B6"/>
    <a:srgbClr val="5C5FA5"/>
    <a:srgbClr val="12B6F1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2767" autoAdjust="0"/>
  </p:normalViewPr>
  <p:slideViewPr>
    <p:cSldViewPr snapToGrid="0" showGuides="1">
      <p:cViewPr varScale="1">
        <p:scale>
          <a:sx n="117" d="100"/>
          <a:sy n="117" d="100"/>
        </p:scale>
        <p:origin x="740" y="56"/>
      </p:cViewPr>
      <p:guideLst>
        <p:guide orient="horz" pos="2079"/>
        <p:guide pos="159"/>
        <p:guide pos="5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D599B-77A4-46BE-AB4E-0E1ACEA3BDC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BF617-F4BE-4AC5-AB17-B653A5CD64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94D5A-8F65-4873-9EBF-C2DDA584B6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我的汇报主要分为以下五个部分。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194D5A-8F65-4873-9EBF-C2DDA584B6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244" y="111127"/>
            <a:ext cx="8430418" cy="41592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1"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31825"/>
            <a:ext cx="9144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54019" y="6583591"/>
            <a:ext cx="218009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A36AAC3-4500-45FC-975D-A1F9F5AEF1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 flipH="1" flipV="1">
            <a:off x="8658860" y="6109335"/>
            <a:ext cx="485140" cy="748665"/>
          </a:xfrm>
          <a:custGeom>
            <a:avLst/>
            <a:gdLst>
              <a:gd name="connsiteX0" fmla="*/ 0 w 1092200"/>
              <a:gd name="connsiteY0" fmla="*/ 0 h 1651000"/>
              <a:gd name="connsiteX1" fmla="*/ 1092200 w 1092200"/>
              <a:gd name="connsiteY1" fmla="*/ 0 h 1651000"/>
              <a:gd name="connsiteX2" fmla="*/ 1092200 w 1092200"/>
              <a:gd name="connsiteY2" fmla="*/ 2474 h 1651000"/>
              <a:gd name="connsiteX3" fmla="*/ 438838 w 1092200"/>
              <a:gd name="connsiteY3" fmla="*/ 1651000 h 1651000"/>
              <a:gd name="connsiteX4" fmla="*/ 0 w 1092200"/>
              <a:gd name="connsiteY4" fmla="*/ 1651000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2200" h="1651000">
                <a:moveTo>
                  <a:pt x="0" y="0"/>
                </a:moveTo>
                <a:lnTo>
                  <a:pt x="1092200" y="0"/>
                </a:lnTo>
                <a:lnTo>
                  <a:pt x="1092200" y="2474"/>
                </a:lnTo>
                <a:lnTo>
                  <a:pt x="438838" y="1651000"/>
                </a:lnTo>
                <a:lnTo>
                  <a:pt x="0" y="165100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54019" y="6583591"/>
            <a:ext cx="218009" cy="215444"/>
          </a:xfrm>
        </p:spPr>
        <p:txBody>
          <a:bodyPr wrap="none" lIns="0" tIns="0" rIns="0" bIns="0">
            <a:spAutoFit/>
          </a:bodyPr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A36AAC3-4500-45FC-975D-A1F9F5AEF1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75" y="24895"/>
            <a:ext cx="1371376" cy="57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09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05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244" y="111127"/>
            <a:ext cx="8430418" cy="41592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31825"/>
            <a:ext cx="9144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/>
          <a:srcRect t="24904" b="25288"/>
          <a:stretch>
            <a:fillRect/>
          </a:stretch>
        </p:blipFill>
        <p:spPr>
          <a:xfrm>
            <a:off x="103347" y="97791"/>
            <a:ext cx="1230154" cy="494665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7167563" y="129565"/>
            <a:ext cx="1891665" cy="3974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6437" tIns="48218" rIns="96437" bIns="48218" anchor="ctr">
            <a:sp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32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8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24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0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marL="0" marR="0" lvl="0" indent="0" algn="ctr" defTabSz="6858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4498A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Arial" panose="020B0604020202020204" pitchFamily="34" charset="0"/>
              </a:rPr>
              <a:t>航空航天学院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4498A"/>
              </a:solidFill>
              <a:effectLst/>
              <a:uLnTx/>
              <a:uFillTx/>
              <a:latin typeface="方正舒体" panose="02010601030101010101" charset="-122"/>
              <a:ea typeface="方正舒体" panose="02010601030101010101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6858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kumimoji="0" lang="en-US" altLang="zh-CN" sz="750" b="1" i="1" u="none" strike="noStrike" kern="1200" cap="none" spc="0" normalizeH="0" baseline="0" noProof="0" dirty="0">
                <a:ln>
                  <a:noFill/>
                </a:ln>
                <a:solidFill>
                  <a:srgbClr val="1449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College of Aerospace Engineering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4477" y="6610523"/>
            <a:ext cx="157094" cy="161583"/>
          </a:xfrm>
        </p:spPr>
        <p:txBody>
          <a:bodyPr wrap="none" lIns="0" tIns="0" rIns="0" bIns="0">
            <a:spAutoFit/>
          </a:bodyPr>
          <a:lstStyle>
            <a:lvl1pPr algn="ctr"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9A0DB2DC-4C9A-4742-B13C-FB6460FD350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 flipH="1" flipV="1">
            <a:off x="8658861" y="6109336"/>
            <a:ext cx="485140" cy="748665"/>
          </a:xfrm>
          <a:custGeom>
            <a:avLst/>
            <a:gdLst>
              <a:gd name="connsiteX0" fmla="*/ 0 w 1092200"/>
              <a:gd name="connsiteY0" fmla="*/ 0 h 1651000"/>
              <a:gd name="connsiteX1" fmla="*/ 1092200 w 1092200"/>
              <a:gd name="connsiteY1" fmla="*/ 0 h 1651000"/>
              <a:gd name="connsiteX2" fmla="*/ 1092200 w 1092200"/>
              <a:gd name="connsiteY2" fmla="*/ 2474 h 1651000"/>
              <a:gd name="connsiteX3" fmla="*/ 438838 w 1092200"/>
              <a:gd name="connsiteY3" fmla="*/ 1651000 h 1651000"/>
              <a:gd name="connsiteX4" fmla="*/ 0 w 1092200"/>
              <a:gd name="connsiteY4" fmla="*/ 1651000 h 165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2200" h="1651000">
                <a:moveTo>
                  <a:pt x="0" y="0"/>
                </a:moveTo>
                <a:lnTo>
                  <a:pt x="1092200" y="0"/>
                </a:lnTo>
                <a:lnTo>
                  <a:pt x="1092200" y="2474"/>
                </a:lnTo>
                <a:lnTo>
                  <a:pt x="438838" y="1651000"/>
                </a:lnTo>
                <a:lnTo>
                  <a:pt x="0" y="165100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84477" y="6610521"/>
            <a:ext cx="157094" cy="161583"/>
          </a:xfrm>
        </p:spPr>
        <p:txBody>
          <a:bodyPr wrap="none" lIns="0" tIns="0" rIns="0" bIns="0">
            <a:spAutoFit/>
          </a:bodyPr>
          <a:lstStyle>
            <a:lvl1pPr algn="ctr"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A36AAC3-4500-45FC-975D-A1F9F5AEF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55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75" y="24895"/>
            <a:ext cx="1371376" cy="57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7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98DB-D84D-42F2-80B6-812B862003B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6AAC3-4500-45FC-975D-A1F9F5AEF1E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98DB-D84D-42F2-80B6-812B862003B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6AAC3-4500-45FC-975D-A1F9F5AEF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69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1"/>
          <p:cNvSpPr>
            <a:spLocks noChangeArrowheads="1"/>
          </p:cNvSpPr>
          <p:nvPr/>
        </p:nvSpPr>
        <p:spPr bwMode="auto">
          <a:xfrm>
            <a:off x="0" y="857250"/>
            <a:ext cx="9138404" cy="3245703"/>
          </a:xfrm>
          <a:prstGeom prst="rect">
            <a:avLst/>
          </a:prstGeom>
          <a:solidFill>
            <a:srgbClr val="004B9D"/>
          </a:solidFill>
          <a:ln w="9525">
            <a:solidFill>
              <a:srgbClr val="007FC5"/>
            </a:solidFill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342900">
              <a:defRPr/>
            </a:pPr>
            <a:endParaRPr b="1" dirty="0">
              <a:solidFill>
                <a:prstClr val="white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5592" y="4356931"/>
            <a:ext cx="7412817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02694" defTabSz="342900">
              <a:spcBef>
                <a:spcPts val="450"/>
              </a:spcBef>
              <a:spcAft>
                <a:spcPts val="900"/>
              </a:spcAft>
              <a:defRPr/>
            </a:pPr>
            <a:r>
              <a:rPr lang="zh-CN" altLang="en-US" sz="15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汇 报 人 ：</a:t>
            </a:r>
            <a:r>
              <a:rPr lang="zh-CN" altLang="en-US" sz="15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苏炫丞</a:t>
            </a:r>
            <a:endParaRPr lang="en-US" altLang="zh-CN" sz="15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2502694" defTabSz="342900">
              <a:spcBef>
                <a:spcPts val="450"/>
              </a:spcBef>
              <a:spcAft>
                <a:spcPts val="900"/>
              </a:spcAft>
              <a:defRPr/>
            </a:pPr>
            <a:r>
              <a:rPr lang="zh-CN" altLang="en-US" sz="15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指导教师：</a:t>
            </a:r>
            <a:r>
              <a:rPr lang="zh-CN" altLang="en-US" sz="15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朱绍伟</a:t>
            </a:r>
            <a:endParaRPr lang="en-US" altLang="zh-CN" sz="15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6585" y="2502598"/>
            <a:ext cx="8730832" cy="144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685800"/>
            <a:r>
              <a:rPr lang="zh-CN" alt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贪吃蛇算法启发的声子晶体混合拓扑生成及数据驱动的逆向设计</a:t>
            </a:r>
            <a:endParaRPr lang="en-US" altLang="zh-CN" sz="4400" dirty="0">
              <a:solidFill>
                <a:srgbClr val="000000"/>
              </a:solidFill>
              <a:latin typeface="Times New Roman"/>
              <a:ea typeface="微软雅黑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49112" y="5253538"/>
            <a:ext cx="1937857" cy="3000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342900">
              <a:defRPr/>
            </a:pPr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2026.03.10</a:t>
            </a:r>
            <a:endParaRPr lang="zh-CN" altLang="en-US" sz="135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6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100" y="1512284"/>
            <a:ext cx="2303181" cy="72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矩形: 剪去左右顶角 1023"/>
          <p:cNvSpPr/>
          <p:nvPr/>
        </p:nvSpPr>
        <p:spPr>
          <a:xfrm rot="10800000">
            <a:off x="2543175" y="858665"/>
            <a:ext cx="4110037" cy="309992"/>
          </a:xfrm>
          <a:prstGeom prst="snip2SameRect">
            <a:avLst>
              <a:gd name="adj1" fmla="val 45698"/>
              <a:gd name="adj2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50" dirty="0">
              <a:solidFill>
                <a:srgbClr val="FFFFFF"/>
              </a:solidFill>
              <a:latin typeface="Times New Roman"/>
              <a:ea typeface="微软雅黑"/>
            </a:endParaRPr>
          </a:p>
        </p:txBody>
      </p:sp>
      <p:sp>
        <p:nvSpPr>
          <p:cNvPr id="1025" name="文本框 1024"/>
          <p:cNvSpPr txBox="1"/>
          <p:nvPr/>
        </p:nvSpPr>
        <p:spPr>
          <a:xfrm>
            <a:off x="1934713" y="883623"/>
            <a:ext cx="52689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spcBef>
                <a:spcPts val="450"/>
              </a:spcBef>
              <a:spcAft>
                <a:spcPts val="900"/>
              </a:spcAft>
              <a:defRPr/>
            </a:pPr>
            <a:r>
              <a:rPr lang="zh-CN" alt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毕业设计开题报告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789884" y="6530251"/>
            <a:ext cx="218009" cy="2154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A36AAC3-4500-45FC-975D-A1F9F5AEF1E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/>
                <a:ea typeface="微软雅黑" panose="020B0503020204020204" charset="-122"/>
                <a:cs typeface="+mn-cs"/>
              </a:rPr>
              <a:t>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Times New Roman" panose="02020603050405020304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3"/>
          <a:srcRect t="24904" b="25288"/>
          <a:stretch>
            <a:fillRect/>
          </a:stretch>
        </p:blipFill>
        <p:spPr>
          <a:xfrm>
            <a:off x="204470" y="97790"/>
            <a:ext cx="1640205" cy="49466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621780" y="64135"/>
            <a:ext cx="2522220" cy="5283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128583" tIns="64291" rIns="128583" bIns="64291" anchor="ctr">
            <a:sp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32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8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•"/>
              <a:defRPr sz="24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–"/>
              <a:defRPr sz="20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SzPct val="100000"/>
              <a:buFont typeface="Arial" panose="020B0604020202020204" pitchFamily="34" charset="0"/>
              <a:buChar char="»"/>
              <a:defRPr sz="2000" b="0" i="0" baseline="0">
                <a:solidFill>
                  <a:schemeClr val="dk1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4498A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  <a:sym typeface="Arial" panose="020B0604020202020204" pitchFamily="34" charset="0"/>
              </a:rPr>
              <a:t>航空航天学院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4498A"/>
              </a:solidFill>
              <a:effectLst/>
              <a:uLnTx/>
              <a:uFillTx/>
              <a:latin typeface="方正舒体" panose="02010601030101010101" charset="-122"/>
              <a:ea typeface="方正舒体" panose="02010601030101010101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14498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航空航天学院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658929" y="706279"/>
            <a:ext cx="1826142" cy="882650"/>
            <a:chOff x="1594974" y="1382616"/>
            <a:chExt cx="1826142" cy="882650"/>
          </a:xfrm>
        </p:grpSpPr>
        <p:sp>
          <p:nvSpPr>
            <p:cNvPr id="9" name="矩形 8"/>
            <p:cNvSpPr/>
            <p:nvPr/>
          </p:nvSpPr>
          <p:spPr bwMode="auto">
            <a:xfrm>
              <a:off x="1594974" y="1382616"/>
              <a:ext cx="1826142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经典综艺体简" panose="02010609000101010101" pitchFamily="49" charset="-122"/>
                </a:rPr>
                <a:t>汇报提纲</a:t>
              </a: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1711179" y="2019521"/>
              <a:ext cx="1593850" cy="2457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/>
                  <a:ea typeface="黑体" panose="02010609060101010101" pitchFamily="49" charset="-122"/>
                  <a:cs typeface="Arial" panose="020B0604020202020204" pitchFamily="34" charset="0"/>
                </a:rPr>
                <a:t>目录</a:t>
              </a:r>
            </a:p>
          </p:txBody>
        </p:sp>
      </p:grpSp>
      <p:sp>
        <p:nvSpPr>
          <p:cNvPr id="40" name="矩形 39"/>
          <p:cNvSpPr/>
          <p:nvPr/>
        </p:nvSpPr>
        <p:spPr>
          <a:xfrm>
            <a:off x="1167319" y="2618022"/>
            <a:ext cx="6770451" cy="540000"/>
          </a:xfrm>
          <a:prstGeom prst="rect">
            <a:avLst/>
          </a:prstGeom>
          <a:solidFill>
            <a:schemeClr val="accent2"/>
          </a:solidFill>
        </p:spPr>
        <p:txBody>
          <a:bodyPr wrap="square" lIns="288000" anchor="ctr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dirty="0">
                <a:solidFill>
                  <a:srgbClr val="FFFFFF"/>
                </a:solidFill>
                <a:latin typeface="+mj-ea"/>
                <a:ea typeface="+mj-ea"/>
              </a:rPr>
              <a:t>二、研究现状</a:t>
            </a:r>
          </a:p>
        </p:txBody>
      </p:sp>
      <p:sp>
        <p:nvSpPr>
          <p:cNvPr id="41" name="矩形 40"/>
          <p:cNvSpPr/>
          <p:nvPr/>
        </p:nvSpPr>
        <p:spPr>
          <a:xfrm>
            <a:off x="1167319" y="3533292"/>
            <a:ext cx="6770451" cy="540000"/>
          </a:xfrm>
          <a:prstGeom prst="rect">
            <a:avLst/>
          </a:prstGeom>
          <a:solidFill>
            <a:schemeClr val="accent2"/>
          </a:solidFill>
        </p:spPr>
        <p:txBody>
          <a:bodyPr wrap="square" lIns="288000" anchor="ctr">
            <a:noAutofit/>
          </a:bodyPr>
          <a:lstStyle/>
          <a:p>
            <a:pPr marL="342900" indent="-342900" defTabSz="914400"/>
            <a:r>
              <a:rPr lang="zh-CN" altLang="en-US" sz="2000" b="1" kern="0" dirty="0">
                <a:solidFill>
                  <a:srgbClr val="FFFFFF"/>
                </a:solidFill>
                <a:latin typeface="+mj-ea"/>
                <a:ea typeface="+mj-ea"/>
              </a:rPr>
              <a:t>三、研究内容</a:t>
            </a:r>
          </a:p>
        </p:txBody>
      </p:sp>
      <p:sp>
        <p:nvSpPr>
          <p:cNvPr id="42" name="矩形 41"/>
          <p:cNvSpPr/>
          <p:nvPr/>
        </p:nvSpPr>
        <p:spPr>
          <a:xfrm>
            <a:off x="1167319" y="4448562"/>
            <a:ext cx="6770451" cy="540000"/>
          </a:xfrm>
          <a:prstGeom prst="rect">
            <a:avLst/>
          </a:prstGeom>
          <a:solidFill>
            <a:schemeClr val="accent2"/>
          </a:solidFill>
        </p:spPr>
        <p:txBody>
          <a:bodyPr wrap="square" lIns="288000" anchor="ctr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dirty="0">
                <a:solidFill>
                  <a:srgbClr val="FFFFFF"/>
                </a:solidFill>
                <a:latin typeface="+mj-ea"/>
                <a:ea typeface="+mj-ea"/>
              </a:rPr>
              <a:t>四、已完成工作</a:t>
            </a:r>
          </a:p>
        </p:txBody>
      </p:sp>
      <p:sp>
        <p:nvSpPr>
          <p:cNvPr id="6" name="矩形 5"/>
          <p:cNvSpPr/>
          <p:nvPr/>
        </p:nvSpPr>
        <p:spPr>
          <a:xfrm>
            <a:off x="1167319" y="1702752"/>
            <a:ext cx="6770451" cy="540000"/>
          </a:xfrm>
          <a:prstGeom prst="rect">
            <a:avLst/>
          </a:prstGeom>
          <a:solidFill>
            <a:schemeClr val="accent2"/>
          </a:solidFill>
        </p:spPr>
        <p:txBody>
          <a:bodyPr wrap="square" lIns="288000" anchor="ctr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</a:rPr>
              <a:t>一、研究背景</a:t>
            </a:r>
          </a:p>
        </p:txBody>
      </p:sp>
      <p:sp>
        <p:nvSpPr>
          <p:cNvPr id="3" name="矩形 2"/>
          <p:cNvSpPr/>
          <p:nvPr/>
        </p:nvSpPr>
        <p:spPr>
          <a:xfrm>
            <a:off x="1167319" y="5363834"/>
            <a:ext cx="6770451" cy="540000"/>
          </a:xfrm>
          <a:prstGeom prst="rect">
            <a:avLst/>
          </a:prstGeom>
          <a:solidFill>
            <a:schemeClr val="accent2"/>
          </a:solidFill>
        </p:spPr>
        <p:txBody>
          <a:bodyPr wrap="square" lIns="288000" anchor="ctr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dirty="0">
                <a:solidFill>
                  <a:srgbClr val="FFFFFF"/>
                </a:solidFill>
                <a:latin typeface="+mj-ea"/>
                <a:ea typeface="+mj-ea"/>
              </a:rPr>
              <a:t>五、待开展工作及研究计划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877824"/>
            <a:ext cx="1554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11111"/>
                </a:solidFill>
                <a:latin typeface="Microsoft YaHei"/>
              </a:rPr>
              <a:t>汇报提纲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2191" y="135331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11111"/>
                </a:solidFill>
                <a:latin typeface="Microsoft YaHei"/>
              </a:rPr>
              <a:t>目录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1700784"/>
            <a:ext cx="6766560" cy="530352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26464" y="1828800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一、研究背景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2606040"/>
            <a:ext cx="6766560" cy="530352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26464" y="2734056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二、研究现状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3511296"/>
            <a:ext cx="6766560" cy="530352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26464" y="363931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三、研究内容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4416552"/>
            <a:ext cx="6766560" cy="530352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26464" y="4544568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四、已完成工作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0432" y="5321808"/>
            <a:ext cx="6766560" cy="530352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26464" y="5449824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五、开题后新增进展</a:t>
            </a:r>
          </a:p>
        </p:txBody>
      </p:sp>
    </p:spTree>
    <p:extLst>
      <p:ext uri="{BB962C8B-B14F-4D97-AF65-F5344CB8AC3E}">
        <p14:creationId xmlns:p14="http://schemas.microsoft.com/office/powerpoint/2010/main" val="239726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8321040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 dirty="0">
                <a:solidFill>
                  <a:srgbClr val="111111"/>
                </a:solidFill>
                <a:latin typeface="Microsoft YaHei"/>
              </a:rPr>
              <a:t>□ </a:t>
            </a:r>
            <a:r>
              <a:rPr sz="2150" b="1" dirty="0" err="1">
                <a:solidFill>
                  <a:srgbClr val="111111"/>
                </a:solidFill>
                <a:latin typeface="Microsoft YaHei"/>
              </a:rPr>
              <a:t>数据库构建</a:t>
            </a:r>
            <a:endParaRPr sz="2150" b="1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2608" y="1188720"/>
            <a:ext cx="42793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4E5D73"/>
                </a:solidFill>
                <a:latin typeface="Microsoft YaHei"/>
              </a:rPr>
              <a:t>现在在做 验证，数据库正在从早期筛样扩展到真值回灌。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1481328"/>
            <a:ext cx="6291072" cy="4572000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536192"/>
            <a:ext cx="1945059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 err="1">
                <a:solidFill>
                  <a:srgbClr val="163A6B"/>
                </a:solidFill>
                <a:latin typeface="Microsoft YaHei"/>
              </a:rPr>
              <a:t>按阶段汇总的当前数据沉淀</a:t>
            </a:r>
            <a:endParaRPr sz="1150" b="1" dirty="0">
              <a:solidFill>
                <a:srgbClr val="163A6B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84848" y="1481328"/>
            <a:ext cx="2084831" cy="1783080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94576" y="1536192"/>
            <a:ext cx="1754124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 err="1">
                <a:solidFill>
                  <a:srgbClr val="163A6B"/>
                </a:solidFill>
                <a:latin typeface="Microsoft YaHei"/>
              </a:rPr>
              <a:t>旧版 数据集 v1 结构</a:t>
            </a:r>
            <a:endParaRPr sz="1150" b="1" dirty="0">
              <a:solidFill>
                <a:srgbClr val="163A6B"/>
              </a:solidFill>
              <a:latin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84848" y="3456432"/>
            <a:ext cx="2084831" cy="2596896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94576" y="3511296"/>
            <a:ext cx="186537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本页结论</a:t>
            </a:r>
          </a:p>
        </p:txBody>
      </p:sp>
      <p:pic>
        <p:nvPicPr>
          <p:cNvPr id="14" name="Picture 13" descr="updated_stage_summary_focus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47088"/>
            <a:ext cx="5998464" cy="3987655"/>
          </a:xfrm>
          <a:prstGeom prst="rect">
            <a:avLst/>
          </a:prstGeom>
        </p:spPr>
      </p:pic>
      <p:pic>
        <p:nvPicPr>
          <p:cNvPr id="15" name="Picture 14" descr="dataset_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1957558"/>
            <a:ext cx="1792224" cy="96777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12864" y="3858768"/>
            <a:ext cx="1810512" cy="749808"/>
          </a:xfrm>
          <a:prstGeom prst="roundRect">
            <a:avLst>
              <a:gd name="adj" fmla="val 8000"/>
            </a:avLst>
          </a:prstGeom>
          <a:solidFill>
            <a:srgbClr val="D9E8F7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3968496"/>
            <a:ext cx="15544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 dirty="0">
                <a:solidFill>
                  <a:srgbClr val="163A6B"/>
                </a:solidFill>
                <a:latin typeface="Microsoft YaHei"/>
              </a:rPr>
              <a:t>结构化总行数：1946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151376"/>
            <a:ext cx="15544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 dirty="0">
                <a:solidFill>
                  <a:srgbClr val="163A6B"/>
                </a:solidFill>
                <a:latin typeface="Microsoft YaHei"/>
              </a:rPr>
              <a:t>可训练：766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334256"/>
            <a:ext cx="15544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 dirty="0" err="1">
                <a:solidFill>
                  <a:srgbClr val="163A6B"/>
                </a:solidFill>
                <a:latin typeface="Microsoft YaHei"/>
              </a:rPr>
              <a:t>主标签：固定</a:t>
            </a:r>
            <a:r>
              <a:rPr sz="1120" b="1" dirty="0">
                <a:solidFill>
                  <a:srgbClr val="163A6B"/>
                </a:solidFill>
                <a:latin typeface="Microsoft YaHei"/>
              </a:rPr>
              <a:t>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769" y="4629690"/>
            <a:ext cx="2248987" cy="1426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28600" indent="-228600" algn="l">
              <a:spcAft>
                <a:spcPts val="400"/>
              </a:spcAft>
              <a:buFont typeface="+mj-ea"/>
              <a:buAutoNum type="circleNumDbPlain"/>
            </a:pPr>
            <a:r>
              <a:rPr sz="1000" b="0" dirty="0" err="1">
                <a:solidFill>
                  <a:srgbClr val="111111"/>
                </a:solidFill>
                <a:latin typeface="Microsoft YaHei"/>
              </a:rPr>
              <a:t>开题时数据库只是构想，现在已经成为多轮 验证 持续回灌的数据资产。</a:t>
            </a:r>
          </a:p>
          <a:p>
            <a:pPr marL="228600" indent="-228600" algn="l">
              <a:spcAft>
                <a:spcPts val="400"/>
              </a:spcAft>
              <a:buFont typeface="+mj-ea"/>
              <a:buAutoNum type="circleNumDbPlain"/>
            </a:pPr>
            <a:r>
              <a:rPr sz="1000" b="0" dirty="0" err="1">
                <a:solidFill>
                  <a:srgbClr val="111111"/>
                </a:solidFill>
                <a:latin typeface="Microsoft YaHei"/>
              </a:rPr>
              <a:t>后续 代理模型、候选清单 和 校准 都建立在这套统一口径数据上。</a:t>
            </a:r>
          </a:p>
          <a:p>
            <a:pPr marL="228600" indent="-228600" algn="l">
              <a:spcAft>
                <a:spcPts val="400"/>
              </a:spcAft>
              <a:buFont typeface="+mj-ea"/>
              <a:buAutoNum type="circleNumDbPlain"/>
            </a:pPr>
            <a:r>
              <a:rPr sz="1000" b="0" dirty="0" err="1">
                <a:solidFill>
                  <a:srgbClr val="111111"/>
                </a:solidFill>
                <a:latin typeface="Microsoft YaHei"/>
              </a:rPr>
              <a:t>所以“继续补 验证”本身就是数据库构建的一部分。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6492240"/>
            <a:ext cx="56692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4E5D73"/>
                </a:solidFill>
                <a:latin typeface="Microsoft YaHei"/>
              </a:rPr>
              <a:t>这里的重点不是单次样本规模，而是已经形成了“筛样数据 + 真值验证 + 可训练标签”三位一体的数据闭环。</a:t>
            </a:r>
          </a:p>
        </p:txBody>
      </p:sp>
    </p:spTree>
    <p:extLst>
      <p:ext uri="{BB962C8B-B14F-4D97-AF65-F5344CB8AC3E}">
        <p14:creationId xmlns:p14="http://schemas.microsoft.com/office/powerpoint/2010/main" val="258099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4384766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111111"/>
                </a:solidFill>
                <a:latin typeface="Microsoft YaHei"/>
              </a:rPr>
              <a:t>□ 第一到第四阶段 分别在干什么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1792224" cy="2880360"/>
          </a:xfrm>
          <a:prstGeom prst="roundRect">
            <a:avLst>
              <a:gd name="adj" fmla="val 8000"/>
            </a:avLst>
          </a:prstGeom>
          <a:solidFill>
            <a:srgbClr val="D9E8F7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38527"/>
            <a:ext cx="1591056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163A6B"/>
                </a:solidFill>
                <a:latin typeface="Microsoft YaHei"/>
              </a:rPr>
              <a:t>第一阶段
受控筛样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542032"/>
            <a:ext cx="1572768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 dirty="0" err="1">
                <a:solidFill>
                  <a:srgbClr val="111111"/>
                </a:solidFill>
                <a:latin typeface="Microsoft YaHei"/>
              </a:rPr>
              <a:t>目标：建立可信母体
与候选家族
输入：基线 + 早期随机/规则样本
输出：正样本 族群
与可信 种子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1783080"/>
            <a:ext cx="1792224" cy="2880360"/>
          </a:xfrm>
          <a:prstGeom prst="roundRect">
            <a:avLst>
              <a:gd name="adj" fmla="val 8000"/>
            </a:avLst>
          </a:prstGeom>
          <a:solidFill>
            <a:srgbClr val="DDF2EF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9192" y="1938527"/>
            <a:ext cx="1591056" cy="677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163A6B"/>
                </a:solidFill>
                <a:latin typeface="Microsoft YaHei"/>
              </a:rPr>
              <a:t>第二阶段
参数规律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42032"/>
            <a:ext cx="1572768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>
                <a:solidFill>
                  <a:srgbClr val="111111"/>
                </a:solidFill>
                <a:latin typeface="Microsoft YaHei"/>
              </a:rPr>
              <a:t>目标：搞清楚哪些参
数真正有效
输入：第一阶段 正样本
与局部扰动
输出：主效应、
细化 区间、
高阶谐波项 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4024" y="1783080"/>
            <a:ext cx="1792224" cy="2880360"/>
          </a:xfrm>
          <a:prstGeom prst="roundRect">
            <a:avLst>
              <a:gd name="adj" fmla="val 8000"/>
            </a:avLst>
          </a:prstGeom>
          <a:solidFill>
            <a:srgbClr val="F8EDC9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55464" y="1938527"/>
            <a:ext cx="1700784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163A6B"/>
                </a:solidFill>
                <a:latin typeface="Microsoft YaHei"/>
              </a:rPr>
              <a:t>第三阶段
数据库与代理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542032"/>
            <a:ext cx="1572768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 dirty="0" err="1">
                <a:solidFill>
                  <a:srgbClr val="111111"/>
                </a:solidFill>
                <a:latin typeface="Microsoft YaHei"/>
              </a:rPr>
              <a:t>目标：把样本和标
签整理成可训练资产
输入：第一、二阶段 样本
+ 历次 验证
输出：数据集、
候选池、
候选清单、代理模型</a:t>
            </a:r>
            <a:endParaRPr sz="1090" b="0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940296" y="1783080"/>
            <a:ext cx="1792224" cy="2880360"/>
          </a:xfrm>
          <a:prstGeom prst="roundRect">
            <a:avLst>
              <a:gd name="adj" fmla="val 8000"/>
            </a:avLst>
          </a:prstGeom>
          <a:solidFill>
            <a:srgbClr val="F8E4D6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31736" y="1938528"/>
            <a:ext cx="1673352" cy="6771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163A6B"/>
                </a:solidFill>
                <a:latin typeface="Microsoft YaHei"/>
              </a:rPr>
              <a:t>第四阶段
真实验证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2542032"/>
            <a:ext cx="1572768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 dirty="0" err="1">
                <a:solidFill>
                  <a:srgbClr val="111111"/>
                </a:solidFill>
                <a:latin typeface="Microsoft YaHei"/>
              </a:rPr>
              <a:t>目标：回到 COMSOL
真值闭环
输入：短名单 /
白名单 / 遗传算法
局部微调
输出：真实增益、校
准样本、后续策略更新</a:t>
            </a:r>
            <a:endParaRPr sz="1090" b="0" dirty="0">
              <a:solidFill>
                <a:srgbClr val="111111"/>
              </a:solidFill>
              <a:latin typeface="Microsoft YaHei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203704" y="3182112"/>
            <a:ext cx="384048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79976" y="3182112"/>
            <a:ext cx="384048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56248" y="3182112"/>
            <a:ext cx="384048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074920"/>
            <a:ext cx="8046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4E5D73"/>
                </a:solidFill>
                <a:latin typeface="Microsoft YaHei"/>
              </a:rPr>
              <a:t>这四个阶段不是线性“一次做完”的关系，而是 第四阶段 的真实结果会回灌到 第三阶段 数据库，再反过来影响 第三阶段 的打分和 第四阶段 的 短名单。</a:t>
            </a:r>
          </a:p>
        </p:txBody>
      </p:sp>
    </p:spTree>
    <p:extLst>
      <p:ext uri="{BB962C8B-B14F-4D97-AF65-F5344CB8AC3E}">
        <p14:creationId xmlns:p14="http://schemas.microsoft.com/office/powerpoint/2010/main" val="238470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7367451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 dirty="0">
                <a:solidFill>
                  <a:srgbClr val="111111"/>
                </a:solidFill>
                <a:latin typeface="Microsoft YaHei"/>
              </a:rPr>
              <a:t>□ 第一阶段 先把可信母体和候选 族群 找出来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188720"/>
            <a:ext cx="8229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4E5D73"/>
                </a:solidFill>
                <a:latin typeface="Microsoft YaHei"/>
              </a:rPr>
              <a:t>先证明哪些 形状族 真正可能带来带隙增益，为后面所有 定向深挖 提供种子。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8877" y="1463040"/>
            <a:ext cx="3931920" cy="455371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517904"/>
            <a:ext cx="3712463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第一阶段 样本漏斗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463040"/>
            <a:ext cx="4389120" cy="455371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17904"/>
            <a:ext cx="4169663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第一阶段 的作用</a:t>
            </a:r>
          </a:p>
        </p:txBody>
      </p:sp>
      <p:pic>
        <p:nvPicPr>
          <p:cNvPr id="12" name="Picture 11" descr="stage1_f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926771"/>
            <a:ext cx="3602736" cy="3212592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DA28178D-CC60-67F8-7EDF-1C564DDF695A}"/>
              </a:ext>
            </a:extLst>
          </p:cNvPr>
          <p:cNvGrpSpPr/>
          <p:nvPr/>
        </p:nvGrpSpPr>
        <p:grpSpPr>
          <a:xfrm>
            <a:off x="607205" y="5276306"/>
            <a:ext cx="3255264" cy="603504"/>
            <a:chOff x="658368" y="4160520"/>
            <a:chExt cx="3255264" cy="603504"/>
          </a:xfrm>
        </p:grpSpPr>
        <p:sp>
          <p:nvSpPr>
            <p:cNvPr id="13" name="Rounded Rectangle 12"/>
            <p:cNvSpPr/>
            <p:nvPr/>
          </p:nvSpPr>
          <p:spPr>
            <a:xfrm>
              <a:off x="658368" y="4160520"/>
              <a:ext cx="1005840" cy="603504"/>
            </a:xfrm>
            <a:prstGeom prst="roundRect">
              <a:avLst>
                <a:gd name="adj" fmla="val 8000"/>
              </a:avLst>
            </a:prstGeom>
            <a:solidFill>
              <a:srgbClr val="D9E8F7"/>
            </a:solidFill>
            <a:ln w="12700">
              <a:solidFill>
                <a:srgbClr val="B9C9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4088" y="4233672"/>
              <a:ext cx="91440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4E5D73"/>
                  </a:solidFill>
                  <a:latin typeface="Microsoft YaHei"/>
                </a:rPr>
                <a:t>总样本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4088" y="4434840"/>
              <a:ext cx="914400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200" b="1" dirty="0">
                  <a:solidFill>
                    <a:srgbClr val="163A6B"/>
                  </a:solidFill>
                  <a:latin typeface="Microsoft YaHei"/>
                </a:rPr>
                <a:t>1210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783080" y="4160520"/>
              <a:ext cx="1005840" cy="603504"/>
            </a:xfrm>
            <a:prstGeom prst="roundRect">
              <a:avLst>
                <a:gd name="adj" fmla="val 8000"/>
              </a:avLst>
            </a:prstGeom>
            <a:solidFill>
              <a:srgbClr val="DDF2EF"/>
            </a:solidFill>
            <a:ln w="12700">
              <a:solidFill>
                <a:srgbClr val="B9C9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28800" y="4233672"/>
              <a:ext cx="91440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 dirty="0" err="1">
                  <a:solidFill>
                    <a:srgbClr val="4E5D73"/>
                  </a:solidFill>
                  <a:latin typeface="Microsoft YaHei"/>
                </a:rPr>
                <a:t>可接触</a:t>
              </a:r>
              <a:endParaRPr sz="1000" b="1" dirty="0">
                <a:solidFill>
                  <a:srgbClr val="4E5D73"/>
                </a:solidFill>
                <a:latin typeface="Microsoft YaHe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28800" y="4434840"/>
              <a:ext cx="914400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200" b="1">
                  <a:solidFill>
                    <a:srgbClr val="163A6B"/>
                  </a:solidFill>
                  <a:latin typeface="Microsoft YaHei"/>
                </a:rPr>
                <a:t>285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907792" y="4160520"/>
              <a:ext cx="1005840" cy="603504"/>
            </a:xfrm>
            <a:prstGeom prst="roundRect">
              <a:avLst>
                <a:gd name="adj" fmla="val 8000"/>
              </a:avLst>
            </a:prstGeom>
            <a:solidFill>
              <a:srgbClr val="F8EDC9"/>
            </a:solidFill>
            <a:ln w="12700">
              <a:solidFill>
                <a:srgbClr val="B9C9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53512" y="4233672"/>
              <a:ext cx="914400" cy="1645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000" b="1">
                  <a:solidFill>
                    <a:srgbClr val="4E5D73"/>
                  </a:solidFill>
                  <a:latin typeface="Microsoft YaHei"/>
                </a:rPr>
                <a:t>正增益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53512" y="4434840"/>
              <a:ext cx="914400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200" b="1">
                  <a:solidFill>
                    <a:srgbClr val="163A6B"/>
                  </a:solidFill>
                  <a:latin typeface="Microsoft YaHei"/>
                </a:rPr>
                <a:t>149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4608576" y="1773936"/>
            <a:ext cx="3931920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111111"/>
                </a:solidFill>
                <a:latin typeface="Microsoft YaHei"/>
              </a:rPr>
              <a:t>先固定可信 基线，后面所有提升都围绕同一物理参照比较。</a:t>
            </a:r>
          </a:p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111111"/>
                </a:solidFill>
                <a:latin typeface="Microsoft YaHei"/>
              </a:rPr>
              <a:t>在早期随机/规则样本里识别出正样本 族群，而不是盲目继续广撒网。</a:t>
            </a:r>
          </a:p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111111"/>
                </a:solidFill>
                <a:latin typeface="Microsoft YaHei"/>
              </a:rPr>
              <a:t>第一阶段 的最终产出不是一个“冠军 形状”，而是一批可继续 定向深挖 的 种子族群。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3749039"/>
            <a:ext cx="3877056" cy="1700784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0016" y="3803903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为什么 第一阶段 之后要收缩主线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4197314"/>
            <a:ext cx="365760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20" b="0">
                <a:solidFill>
                  <a:srgbClr val="111111"/>
                </a:solidFill>
                <a:latin typeface="Microsoft YaHei"/>
              </a:rPr>
              <a:t>大范围铺开探索 虽然能扩充几何多样性，但接触条件和真实增益都不够稳定。</a:t>
            </a:r>
          </a:p>
          <a:p>
            <a:pPr algn="l">
              <a:spcAft>
                <a:spcPts val="400"/>
              </a:spcAft>
            </a:pPr>
            <a:r>
              <a:rPr sz="1120" b="0">
                <a:solidFill>
                  <a:srgbClr val="111111"/>
                </a:solidFill>
                <a:latin typeface="Microsoft YaHei"/>
              </a:rPr>
              <a:t>所以后面策略才会从“继续造更多随机样本”转向“围绕已有 族群 提炼规律”。</a:t>
            </a:r>
          </a:p>
        </p:txBody>
      </p:sp>
    </p:spTree>
    <p:extLst>
      <p:ext uri="{BB962C8B-B14F-4D97-AF65-F5344CB8AC3E}">
        <p14:creationId xmlns:p14="http://schemas.microsoft.com/office/powerpoint/2010/main" val="388873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A228-278C-AC94-F4BD-C4390CCB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>
            <a:extLst>
              <a:ext uri="{FF2B5EF4-FFF2-40B4-BE49-F238E27FC236}">
                <a16:creationId xmlns:a16="http://schemas.microsoft.com/office/drawing/2014/main" id="{20BDF024-D34E-6E65-239D-DCCF66D8A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>
            <a:extLst>
              <a:ext uri="{FF2B5EF4-FFF2-40B4-BE49-F238E27FC236}">
                <a16:creationId xmlns:a16="http://schemas.microsoft.com/office/drawing/2014/main" id="{98CD80AF-9827-1B20-F93B-104885B64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92BC45-2E47-8BE1-585E-517389BB7342}"/>
              </a:ext>
            </a:extLst>
          </p:cNvPr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D2AB1-463A-328D-4C47-C052A1519A7C}"/>
              </a:ext>
            </a:extLst>
          </p:cNvPr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078378-91C5-7EAD-B07B-1D234635CB6E}"/>
              </a:ext>
            </a:extLst>
          </p:cNvPr>
          <p:cNvSpPr txBox="1"/>
          <p:nvPr/>
        </p:nvSpPr>
        <p:spPr>
          <a:xfrm>
            <a:off x="274320" y="768096"/>
            <a:ext cx="1592580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 dirty="0">
                <a:solidFill>
                  <a:srgbClr val="111111"/>
                </a:solidFill>
                <a:latin typeface="Microsoft YaHei"/>
              </a:rPr>
              <a:t>□ 第二阶段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4F717E-0226-4A07-BE06-D0A2454AC981}"/>
              </a:ext>
            </a:extLst>
          </p:cNvPr>
          <p:cNvSpPr txBox="1"/>
          <p:nvPr/>
        </p:nvSpPr>
        <p:spPr>
          <a:xfrm>
            <a:off x="292608" y="1188720"/>
            <a:ext cx="8229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4E5D73"/>
                </a:solidFill>
                <a:latin typeface="Microsoft YaHei"/>
              </a:rPr>
              <a:t>先证明哪些 形状族 真正可能带来带隙增益，为后面所有 定向深挖 提供种子。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2D7794-0C20-E810-91F3-ADE26D9EF3CA}"/>
              </a:ext>
            </a:extLst>
          </p:cNvPr>
          <p:cNvSpPr/>
          <p:nvPr/>
        </p:nvSpPr>
        <p:spPr>
          <a:xfrm>
            <a:off x="268877" y="1463040"/>
            <a:ext cx="3931920" cy="455371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B5143A-3735-CC10-1512-1F8850C73A41}"/>
              </a:ext>
            </a:extLst>
          </p:cNvPr>
          <p:cNvSpPr txBox="1"/>
          <p:nvPr/>
        </p:nvSpPr>
        <p:spPr>
          <a:xfrm>
            <a:off x="420625" y="1517904"/>
            <a:ext cx="12503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63A6B"/>
                </a:solidFill>
                <a:latin typeface="Microsoft YaHei"/>
              </a:rPr>
              <a:t>第二阶段细化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65E085-E7B9-F733-A0E0-EEC012DF62DD}"/>
              </a:ext>
            </a:extLst>
          </p:cNvPr>
          <p:cNvSpPr/>
          <p:nvPr/>
        </p:nvSpPr>
        <p:spPr>
          <a:xfrm>
            <a:off x="4443984" y="1463040"/>
            <a:ext cx="4389120" cy="455371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12F2E-F4D6-23E5-D710-85E1F6D539CA}"/>
              </a:ext>
            </a:extLst>
          </p:cNvPr>
          <p:cNvSpPr txBox="1"/>
          <p:nvPr/>
        </p:nvSpPr>
        <p:spPr>
          <a:xfrm>
            <a:off x="4553712" y="1517904"/>
            <a:ext cx="134634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50" b="1" dirty="0">
                <a:solidFill>
                  <a:srgbClr val="163A6B"/>
                </a:solidFill>
                <a:latin typeface="Microsoft YaHei"/>
              </a:rPr>
              <a:t>高阶谐波项</a:t>
            </a:r>
            <a:endParaRPr sz="1150" b="1" dirty="0">
              <a:solidFill>
                <a:srgbClr val="163A6B"/>
              </a:solidFill>
              <a:latin typeface="Microsoft YaHei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CF60FB8-6D43-3FB5-3F3E-24604ABBAA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79" y="1847088"/>
            <a:ext cx="3715526" cy="3702231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B5694165-9558-A528-B01C-885F0493BF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56" y="2308644"/>
            <a:ext cx="4151375" cy="275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0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8321040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 dirty="0">
                <a:solidFill>
                  <a:srgbClr val="111111"/>
                </a:solidFill>
                <a:latin typeface="Microsoft YaHei"/>
              </a:rPr>
              <a:t>□ 第二阶段：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188720"/>
            <a:ext cx="8229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4E5D73"/>
                </a:solidFill>
                <a:latin typeface="Microsoft YaHei"/>
              </a:rPr>
              <a:t>这一阶段开始拆参数贡献，区分主效应、细化 区间和高阶项优先级，目的是让后面搜索不再回到大范围盲扫。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444752"/>
            <a:ext cx="4663440" cy="4590288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499616"/>
            <a:ext cx="4443983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第二阶段主效应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8928" y="1444752"/>
            <a:ext cx="1783080" cy="199339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48656" y="1499615"/>
            <a:ext cx="117631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63A6B"/>
                </a:solidFill>
                <a:latin typeface="Microsoft YaHei"/>
              </a:rPr>
              <a:t>第二阶段细化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77456" y="1444752"/>
            <a:ext cx="1755648" cy="199339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87184" y="1499615"/>
            <a:ext cx="99343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63A6B"/>
                </a:solidFill>
                <a:latin typeface="Microsoft YaHei"/>
              </a:rPr>
              <a:t>高阶谐波项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3639312"/>
            <a:ext cx="3694176" cy="2395728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48656" y="3694175"/>
            <a:ext cx="1898146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 err="1">
                <a:solidFill>
                  <a:srgbClr val="163A6B"/>
                </a:solidFill>
                <a:latin typeface="Microsoft YaHei"/>
              </a:rPr>
              <a:t>这一阶段得到的优化细节</a:t>
            </a:r>
            <a:endParaRPr sz="1150" b="1" dirty="0">
              <a:solidFill>
                <a:srgbClr val="163A6B"/>
              </a:solidFill>
              <a:latin typeface="Microsoft YaHei"/>
            </a:endParaRPr>
          </a:p>
        </p:txBody>
      </p:sp>
      <p:pic>
        <p:nvPicPr>
          <p:cNvPr id="16" name="Picture 15" descr="stage2_main_eff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97529"/>
            <a:ext cx="4407408" cy="3671751"/>
          </a:xfrm>
          <a:prstGeom prst="rect">
            <a:avLst/>
          </a:prstGeom>
        </p:spPr>
      </p:pic>
      <p:pic>
        <p:nvPicPr>
          <p:cNvPr id="17" name="Picture 16" descr="stage2_refine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231" y="1799867"/>
            <a:ext cx="1673330" cy="1502618"/>
          </a:xfrm>
          <a:prstGeom prst="rect">
            <a:avLst/>
          </a:prstGeom>
        </p:spPr>
      </p:pic>
      <p:pic>
        <p:nvPicPr>
          <p:cNvPr id="18" name="Picture 17" descr="harmonics_prio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802" y="1799867"/>
            <a:ext cx="1677158" cy="15026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48656" y="4052078"/>
            <a:ext cx="3364992" cy="8392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30" b="0" dirty="0">
                <a:solidFill>
                  <a:srgbClr val="111111"/>
                </a:solidFill>
                <a:latin typeface="Microsoft YaHei"/>
              </a:rPr>
              <a:t>a1、a2、b2 </a:t>
            </a:r>
            <a:r>
              <a:rPr sz="1130" b="0" dirty="0" err="1">
                <a:solidFill>
                  <a:srgbClr val="111111"/>
                </a:solidFill>
                <a:latin typeface="Microsoft YaHei"/>
              </a:rPr>
              <a:t>这类低阶参数形成了比较稳定的有效工作区间</a:t>
            </a:r>
            <a:r>
              <a:rPr sz="1130" b="0" dirty="0">
                <a:solidFill>
                  <a:srgbClr val="111111"/>
                </a:solidFill>
                <a:latin typeface="Microsoft YaHei"/>
              </a:rPr>
              <a:t>。</a:t>
            </a:r>
          </a:p>
          <a:p>
            <a:pPr algn="l">
              <a:spcAft>
                <a:spcPts val="400"/>
              </a:spcAft>
            </a:pPr>
            <a:r>
              <a:rPr sz="1130" b="0" dirty="0">
                <a:solidFill>
                  <a:srgbClr val="111111"/>
                </a:solidFill>
                <a:latin typeface="Microsoft YaHei"/>
              </a:rPr>
              <a:t>a4、b5 </a:t>
            </a:r>
            <a:r>
              <a:rPr sz="1130" b="0" dirty="0" err="1">
                <a:solidFill>
                  <a:srgbClr val="111111"/>
                </a:solidFill>
                <a:latin typeface="Microsoft YaHei"/>
              </a:rPr>
              <a:t>等高阶项更适合作为局部强化项，而不是一开始就大范围搜索</a:t>
            </a:r>
            <a:r>
              <a:rPr sz="1130" b="0" dirty="0">
                <a:solidFill>
                  <a:srgbClr val="111111"/>
                </a:solidFill>
                <a:latin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73811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8321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111111"/>
                </a:solidFill>
                <a:latin typeface="Microsoft YaHei"/>
              </a:rPr>
              <a:t>□ 第三阶段：把样本和标签整理成可训练数据库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188720"/>
            <a:ext cx="8229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E5D73"/>
                </a:solidFill>
                <a:latin typeface="Microsoft YaHei"/>
              </a:rPr>
              <a:t>第三阶段 不直接产出新物理结果，但它决定了后面 代理模型、候选池 和 候选清单 是否有统一依据。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444752"/>
            <a:ext cx="4681728" cy="290779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499616"/>
            <a:ext cx="44622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第三阶段 的数据库输入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57217" y="1444752"/>
            <a:ext cx="3675887" cy="2907792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66944" y="1499616"/>
            <a:ext cx="3456431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第三阶段 的结构化输出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" y="4535424"/>
            <a:ext cx="8522208" cy="1499616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" y="4590288"/>
            <a:ext cx="8302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为什么 第三阶段 很关键</a:t>
            </a:r>
          </a:p>
        </p:txBody>
      </p:sp>
      <p:pic>
        <p:nvPicPr>
          <p:cNvPr id="14" name="Picture 13" descr="updated_stage_summary_focus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4389120" cy="23957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13248" y="1828800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8968" y="1938528"/>
            <a:ext cx="12618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A6B"/>
                </a:solidFill>
                <a:latin typeface="Microsoft YaHei"/>
              </a:rPr>
              <a:t>样本表统一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2864" y="1828800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58583" y="1938528"/>
            <a:ext cx="12618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A6B"/>
                </a:solidFill>
                <a:latin typeface="Microsoft YaHei"/>
              </a:rPr>
              <a:t>标签口径统一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3248" y="2615184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36107" y="2634805"/>
            <a:ext cx="1307593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63A6B"/>
                </a:solidFill>
                <a:latin typeface="Microsoft YaHei"/>
              </a:rPr>
              <a:t>候选
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12864" y="2615184"/>
            <a:ext cx="1353312" cy="4754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9419" y="2634805"/>
            <a:ext cx="1636771" cy="4924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163A6B"/>
                </a:solidFill>
                <a:latin typeface="Microsoft YaHei"/>
              </a:rPr>
              <a:t>候选清单 /
短名单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66560" y="2066543"/>
            <a:ext cx="146304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9904" y="2304288"/>
            <a:ext cx="0" cy="310896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89520" y="2304288"/>
            <a:ext cx="0" cy="310896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4884229"/>
            <a:ext cx="81381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 err="1">
                <a:solidFill>
                  <a:srgbClr val="111111"/>
                </a:solidFill>
                <a:latin typeface="Microsoft YaHei"/>
              </a:rPr>
              <a:t>如果没有 第三阶段，前面的筛样和后面的 验证 只是散落在不同实验里的表格，没法统一训练 代理模型，也没法追踪 短名单 规则。</a:t>
            </a:r>
          </a:p>
        </p:txBody>
      </p:sp>
    </p:spTree>
    <p:extLst>
      <p:ext uri="{BB962C8B-B14F-4D97-AF65-F5344CB8AC3E}">
        <p14:creationId xmlns:p14="http://schemas.microsoft.com/office/powerpoint/2010/main" val="412161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6398623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 dirty="0">
                <a:solidFill>
                  <a:srgbClr val="111111"/>
                </a:solidFill>
                <a:latin typeface="Microsoft YaHei"/>
              </a:rPr>
              <a:t>□ 第四阶段：把 短名单 拉回真实 COMSOL 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188720"/>
            <a:ext cx="82296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4E5D73"/>
                </a:solidFill>
                <a:latin typeface="Microsoft YaHei"/>
              </a:rPr>
              <a:t>用真值判断 评分 有没有偏、候选清单 是否过窄、哪些 族群 更稳定。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444752"/>
            <a:ext cx="4389120" cy="4590288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499615"/>
            <a:ext cx="1669433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 err="1">
                <a:solidFill>
                  <a:srgbClr val="163A6B"/>
                </a:solidFill>
                <a:latin typeface="Microsoft YaHei"/>
              </a:rPr>
              <a:t>真实 验证 结果</a:t>
            </a:r>
            <a:endParaRPr sz="1150" b="1" dirty="0">
              <a:solidFill>
                <a:srgbClr val="163A6B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882896" y="1444752"/>
            <a:ext cx="3950208" cy="2139696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92624" y="1499615"/>
            <a:ext cx="1549690" cy="269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63A6B"/>
                </a:solidFill>
                <a:latin typeface="Microsoft YaHei"/>
              </a:rPr>
              <a:t>v11 校准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3730752"/>
            <a:ext cx="3950208" cy="2304288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92624" y="3785614"/>
            <a:ext cx="1631333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163A6B"/>
                </a:solidFill>
                <a:latin typeface="Microsoft YaHei"/>
              </a:rPr>
              <a:t>第四阶段 回来的结论</a:t>
            </a:r>
          </a:p>
        </p:txBody>
      </p:sp>
      <p:pic>
        <p:nvPicPr>
          <p:cNvPr id="14" name="Picture 13" descr="seed_v10_validation_gain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0" y="2052882"/>
            <a:ext cx="4172590" cy="3063131"/>
          </a:xfrm>
          <a:prstGeom prst="rect">
            <a:avLst/>
          </a:prstGeom>
        </p:spPr>
      </p:pic>
      <p:pic>
        <p:nvPicPr>
          <p:cNvPr id="15" name="Picture 14" descr="calibration_summary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4419" y="1810512"/>
            <a:ext cx="3640669" cy="17739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64419" y="4096511"/>
            <a:ext cx="3566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40" b="0" dirty="0">
                <a:solidFill>
                  <a:srgbClr val="111111"/>
                </a:solidFill>
                <a:latin typeface="Microsoft YaHei"/>
              </a:rPr>
              <a:t>v10 的 8 个候选里 6 个真实正增益，说明 细化后 仅种子 不再只是 代理模型 上好看。</a:t>
            </a:r>
          </a:p>
          <a:p>
            <a:pPr algn="l">
              <a:spcAft>
                <a:spcPts val="400"/>
              </a:spcAft>
            </a:pPr>
            <a:r>
              <a:rPr sz="1140" b="0" dirty="0" err="1">
                <a:solidFill>
                  <a:srgbClr val="111111"/>
                </a:solidFill>
                <a:latin typeface="Microsoft YaHei"/>
              </a:rPr>
              <a:t>校准样本把 v9、v10 和 遗传算法 的回证记录汇总起来，开始形成 精确率 / 召回率 的阈值判断。</a:t>
            </a:r>
          </a:p>
          <a:p>
            <a:pPr algn="l">
              <a:spcAft>
                <a:spcPts val="400"/>
              </a:spcAft>
            </a:pPr>
            <a:r>
              <a:rPr sz="1140" b="0" dirty="0">
                <a:solidFill>
                  <a:srgbClr val="111111"/>
                </a:solidFill>
                <a:latin typeface="Microsoft YaHei"/>
              </a:rPr>
              <a:t>第四阶段 的真实结果会直接回灌到数据库，反过来修正后面的 短名单 规则。</a:t>
            </a:r>
          </a:p>
        </p:txBody>
      </p:sp>
    </p:spTree>
    <p:extLst>
      <p:ext uri="{BB962C8B-B14F-4D97-AF65-F5344CB8AC3E}">
        <p14:creationId xmlns:p14="http://schemas.microsoft.com/office/powerpoint/2010/main" val="1599269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8321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111111"/>
                </a:solidFill>
                <a:latin typeface="Microsoft YaHei"/>
              </a:rPr>
              <a:t>□ 这段时间策略是如何一步步收敛的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188720"/>
            <a:ext cx="8229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E5D73"/>
                </a:solidFill>
                <a:latin typeface="Microsoft YaHei"/>
              </a:rPr>
              <a:t>老师如果想快速看变化，可以把这页理解成“开题之后策略是怎么一步步收紧的”。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00784"/>
            <a:ext cx="1810512" cy="4297680"/>
          </a:xfrm>
          <a:prstGeom prst="roundRect">
            <a:avLst>
              <a:gd name="adj" fmla="val 8000"/>
            </a:avLst>
          </a:prstGeom>
          <a:solidFill>
            <a:srgbClr val="D9E8F7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63A6B"/>
                </a:solidFill>
                <a:latin typeface="Microsoft YaHei"/>
              </a:rPr>
              <a:t>最早 大范围
铺开探索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523744"/>
            <a:ext cx="1481328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目标：扩几何空间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问题：接触和增益稳定性都不够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结论：只能作为探索起点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542032" y="1700784"/>
            <a:ext cx="1810512" cy="4297680"/>
          </a:xfrm>
          <a:prstGeom prst="roundRect">
            <a:avLst>
              <a:gd name="adj" fmla="val 8000"/>
            </a:avLst>
          </a:prstGeom>
          <a:solidFill>
            <a:srgbClr val="DDF2EF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3472" y="1847088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63A6B"/>
                </a:solidFill>
                <a:latin typeface="Microsoft YaHei"/>
              </a:rPr>
              <a:t>仅种子
细化后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2523744"/>
            <a:ext cx="1481328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目标：围绕已知 正增益族群 收缩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做法：围绕 种子 的局部点位与 族群 探索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结论：开始拿到稳定正增益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18304" y="1700784"/>
            <a:ext cx="1810512" cy="4297680"/>
          </a:xfrm>
          <a:prstGeom prst="roundRect">
            <a:avLst>
              <a:gd name="adj" fmla="val 8000"/>
            </a:avLst>
          </a:prstGeom>
          <a:solidFill>
            <a:srgbClr val="F8EDC9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1847088"/>
            <a:ext cx="1810511" cy="591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 dirty="0">
                <a:solidFill>
                  <a:srgbClr val="163A6B"/>
                </a:solidFill>
                <a:latin typeface="Microsoft YaHei"/>
              </a:rPr>
              <a:t>兼顾多样性
候选清单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523744"/>
            <a:ext cx="1481328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目标：避免 短名单 过度塌缩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做法：主选 + 探测 + 多样性 配比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结论：兼顾 定向深挖 与覆盖面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94576" y="1700784"/>
            <a:ext cx="1810512" cy="4297680"/>
          </a:xfrm>
          <a:prstGeom prst="roundRect">
            <a:avLst>
              <a:gd name="adj" fmla="val 8000"/>
            </a:avLst>
          </a:prstGeom>
          <a:solidFill>
            <a:srgbClr val="F8E4D6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86016" y="1847088"/>
            <a:ext cx="16276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 dirty="0">
                <a:solidFill>
                  <a:srgbClr val="163A6B"/>
                </a:solidFill>
                <a:latin typeface="Microsoft YaHei"/>
              </a:rPr>
              <a:t>校准 +
遗传算法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523744"/>
            <a:ext cx="1481328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目标：让排序更稳、精修更保守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做法：阈值校准 + 白名单 局部微调</a:t>
            </a:r>
            <a:endParaRPr sz="1100" b="0" dirty="0">
              <a:solidFill>
                <a:srgbClr val="111111"/>
              </a:solidFill>
              <a:latin typeface="Microsoft YaHei"/>
            </a:endParaRPr>
          </a:p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111111"/>
                </a:solidFill>
                <a:latin typeface="Microsoft YaHei"/>
              </a:rPr>
              <a:t>结论：只在可信点附近做 精修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76272" y="3822191"/>
            <a:ext cx="365760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52544" y="3822191"/>
            <a:ext cx="365760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28816" y="3822191"/>
            <a:ext cx="365760" cy="0"/>
          </a:xfrm>
          <a:prstGeom prst="line">
            <a:avLst/>
          </a:prstGeom>
          <a:ln w="22860">
            <a:solidFill>
              <a:srgbClr val="1C4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604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68096"/>
            <a:ext cx="5120640" cy="4231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111111"/>
                </a:solidFill>
                <a:latin typeface="Microsoft YaHei"/>
              </a:rPr>
              <a:t>□ 遗传算法 微调的定位：白名单后的局部精修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444752"/>
            <a:ext cx="4700016" cy="4590288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" y="1499616"/>
            <a:ext cx="44805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种子方案与遗传算法局部微调对比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1444752"/>
            <a:ext cx="3639312" cy="4590288"/>
          </a:xfrm>
          <a:prstGeom prst="roundRect">
            <a:avLst>
              <a:gd name="adj" fmla="val 8000"/>
            </a:avLst>
          </a:prstGeom>
          <a:solidFill>
            <a:srgbClr val="FCFDFE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499616"/>
            <a:ext cx="3419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A6B"/>
                </a:solidFill>
                <a:latin typeface="Microsoft YaHei"/>
              </a:rPr>
              <a:t>如何理解这一步</a:t>
            </a:r>
          </a:p>
        </p:txBody>
      </p:sp>
      <p:pic>
        <p:nvPicPr>
          <p:cNvPr id="12" name="Picture 11" descr="ga_local_tuner_compar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142366"/>
            <a:ext cx="4334256" cy="25732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13248" y="1755648"/>
            <a:ext cx="932688" cy="658368"/>
          </a:xfrm>
          <a:prstGeom prst="roundRect">
            <a:avLst>
              <a:gd name="adj" fmla="val 8000"/>
            </a:avLst>
          </a:prstGeom>
          <a:solidFill>
            <a:srgbClr val="D9E8F7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58968" y="1828800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4E5D73"/>
                </a:solidFill>
                <a:latin typeface="Microsoft YaHei"/>
              </a:rPr>
              <a:t>遗传算法样本数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2029967"/>
            <a:ext cx="841248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63A6B"/>
                </a:solidFill>
                <a:latin typeface="Microsoft YaHe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1755648"/>
            <a:ext cx="932688" cy="658368"/>
          </a:xfrm>
          <a:prstGeom prst="roundRect">
            <a:avLst>
              <a:gd name="adj" fmla="val 8000"/>
            </a:avLst>
          </a:prstGeom>
          <a:solidFill>
            <a:srgbClr val="DDF2EF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828800"/>
            <a:ext cx="8412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E5D73"/>
                </a:solidFill>
                <a:latin typeface="Microsoft YaHei"/>
              </a:rPr>
              <a:t>正增益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029967"/>
            <a:ext cx="841248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63A6B"/>
                </a:solidFill>
                <a:latin typeface="Microsoft YaHe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4656" y="1755648"/>
            <a:ext cx="932688" cy="658368"/>
          </a:xfrm>
          <a:prstGeom prst="roundRect">
            <a:avLst>
              <a:gd name="adj" fmla="val 8000"/>
            </a:avLst>
          </a:prstGeom>
          <a:solidFill>
            <a:srgbClr val="F8EDC9"/>
          </a:solidFill>
          <a:ln w="12700">
            <a:solidFill>
              <a:srgbClr val="B9C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34656" y="1823269"/>
            <a:ext cx="932688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4E5D73"/>
                </a:solidFill>
                <a:latin typeface="Microsoft YaHei"/>
              </a:rPr>
              <a:t>平均增益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037505"/>
            <a:ext cx="11247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163A6B"/>
                </a:solidFill>
                <a:latin typeface="Microsoft YaHei"/>
              </a:rPr>
              <a:t>8.16赫兹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688336"/>
            <a:ext cx="3255264" cy="10874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60" b="0" dirty="0" err="1">
                <a:solidFill>
                  <a:srgbClr val="111111"/>
                </a:solidFill>
                <a:latin typeface="Microsoft YaHei"/>
              </a:rPr>
              <a:t>只对白名单 形状 开放，避免搜索重新发散。</a:t>
            </a:r>
          </a:p>
          <a:p>
            <a:pPr algn="l">
              <a:spcAft>
                <a:spcPts val="400"/>
              </a:spcAft>
            </a:pPr>
            <a:r>
              <a:rPr sz="1160" b="0" dirty="0" err="1">
                <a:solidFill>
                  <a:srgbClr val="111111"/>
                </a:solidFill>
                <a:latin typeface="Microsoft YaHei"/>
              </a:rPr>
              <a:t>参数变化幅度很小，说明它不是在创造新规律，而是在可信点附近做微调</a:t>
            </a:r>
            <a:r>
              <a:rPr sz="1160" b="0" dirty="0">
                <a:solidFill>
                  <a:srgbClr val="111111"/>
                </a:solidFill>
                <a:latin typeface="Microsoft YaHei"/>
              </a:rPr>
              <a:t>。</a:t>
            </a:r>
          </a:p>
          <a:p>
            <a:pPr algn="l">
              <a:spcAft>
                <a:spcPts val="400"/>
              </a:spcAft>
            </a:pPr>
            <a:r>
              <a:rPr sz="1160" b="0" dirty="0" err="1">
                <a:solidFill>
                  <a:srgbClr val="111111"/>
                </a:solidFill>
                <a:latin typeface="Microsoft YaHei"/>
              </a:rPr>
              <a:t>最合适的定位是 排序后的局部精修，而不是前置主搜索器。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515721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E5D73"/>
                </a:solidFill>
                <a:latin typeface="Microsoft YaHei"/>
              </a:rPr>
              <a:t>当前示例：ep249_step33_轮廓_xy</a:t>
            </a:r>
          </a:p>
        </p:txBody>
      </p:sp>
    </p:spTree>
    <p:extLst>
      <p:ext uri="{BB962C8B-B14F-4D97-AF65-F5344CB8AC3E}">
        <p14:creationId xmlns:p14="http://schemas.microsoft.com/office/powerpoint/2010/main" val="717306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graduation_project\coad\data\presentations\2026-03-25_opening_continuation\assets\head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7" y="0"/>
            <a:ext cx="2609385" cy="658368"/>
          </a:xfrm>
          <a:prstGeom prst="rect">
            <a:avLst/>
          </a:prstGeom>
        </p:spPr>
      </p:pic>
      <p:pic>
        <p:nvPicPr>
          <p:cNvPr id="3" name="Image 1" descr="D:\graduation_project\coad\data\presentations\2026-03-25_opening_continuation\assets\header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748"/>
            <a:ext cx="2057400" cy="64887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30936"/>
            <a:ext cx="9144000" cy="0"/>
          </a:xfrm>
          <a:prstGeom prst="line">
            <a:avLst/>
          </a:prstGeom>
          <a:noFill/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1"/>
          <p:cNvSpPr/>
          <p:nvPr/>
        </p:nvSpPr>
        <p:spPr>
          <a:xfrm>
            <a:off x="8686800" y="65471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92608" y="8046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数据库扩起来之后，开始进入真实 验证 闭环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310895" y="1156540"/>
            <a:ext cx="8311897" cy="288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这里展示的是 v10 仅种子 细化后 的一轮真实 第四阶段 验证结果，重点不只是“分高”，而是 短名单 真正回到物理验证。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9184" y="1502229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CFDFE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457200" y="1591056"/>
            <a:ext cx="5276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个候选的真实增益结果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080760" y="1517904"/>
            <a:ext cx="2807208" cy="4526280"/>
          </a:xfrm>
          <a:prstGeom prst="roundRect">
            <a:avLst>
              <a:gd name="adj" fmla="val 1954"/>
            </a:avLst>
          </a:prstGeom>
          <a:solidFill>
            <a:srgbClr val="FCFDFE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208776" y="159105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验证摘要</a:t>
            </a:r>
            <a:endParaRPr lang="en-US" sz="1200" dirty="0"/>
          </a:p>
        </p:txBody>
      </p:sp>
      <p:pic>
        <p:nvPicPr>
          <p:cNvPr id="12" name="Image 2" descr="D:\graduation_project\coad\data\presentations\2026-03-25_group_meeting_refresh_v2\assets\seed_v10_validation_gain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1883664"/>
            <a:ext cx="5230368" cy="391297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09360" y="1810512"/>
            <a:ext cx="777240" cy="749808"/>
          </a:xfrm>
          <a:prstGeom prst="roundRect">
            <a:avLst>
              <a:gd name="adj" fmla="val 6098"/>
            </a:avLst>
          </a:prstGeom>
          <a:solidFill>
            <a:srgbClr val="D9E8F7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6345936" y="1883664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总条数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345936" y="2066544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205472" y="1810512"/>
            <a:ext cx="777240" cy="749808"/>
          </a:xfrm>
          <a:prstGeom prst="roundRect">
            <a:avLst>
              <a:gd name="adj" fmla="val 6098"/>
            </a:avLst>
          </a:prstGeom>
          <a:solidFill>
            <a:srgbClr val="DDF2EF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7242048" y="1883664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正增益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242048" y="2066544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101584" y="1810512"/>
            <a:ext cx="777240" cy="749808"/>
          </a:xfrm>
          <a:prstGeom prst="roundRect">
            <a:avLst>
              <a:gd name="adj" fmla="val 6098"/>
            </a:avLst>
          </a:prstGeom>
          <a:solidFill>
            <a:srgbClr val="F8EDC9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8138160" y="1883664"/>
            <a:ext cx="704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平均增益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138160" y="2066544"/>
            <a:ext cx="7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4.04 赫兹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291072" y="2761488"/>
            <a:ext cx="2468880" cy="19110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7452" indent="-187452">
              <a:buSzPct val="100000"/>
              <a:buChar char="•"/>
            </a:pPr>
            <a:r>
              <a:rPr lang="en-US" sz="123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v10 开始，短名单 不再只是 代理模型 内部排序，而是拿到 COMSOL 真值做回证。</a:t>
            </a:r>
            <a:endParaRPr lang="en-US" sz="1230" dirty="0"/>
          </a:p>
          <a:p>
            <a:pPr marL="187452" indent="-187452">
              <a:buSzPct val="100000"/>
              <a:buChar char="•"/>
            </a:pPr>
            <a:r>
              <a:rPr lang="en-US" sz="123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 为正增益，说明 细化后 仅种子 这条线已经具备持续回收有效样本的能力。</a:t>
            </a:r>
            <a:endParaRPr lang="en-US" sz="1230" dirty="0"/>
          </a:p>
          <a:p>
            <a:pPr marL="187452" indent="-187452">
              <a:buSzPct val="100000"/>
              <a:buChar char="•"/>
            </a:pPr>
            <a:r>
              <a:rPr lang="en-US" sz="123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剩下的问题主要集中在 接触门槛，不是单纯的排序失灵。</a:t>
            </a:r>
            <a:endParaRPr lang="en-US" sz="1230" dirty="0"/>
          </a:p>
        </p:txBody>
      </p:sp>
      <p:sp>
        <p:nvSpPr>
          <p:cNvPr id="23" name="Text 18"/>
          <p:cNvSpPr/>
          <p:nvPr/>
        </p:nvSpPr>
        <p:spPr>
          <a:xfrm>
            <a:off x="6291072" y="51755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当前主点继续收敛在 rf09_h00_中心 一带，旧高分点保留作对照。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graduation_project\coad\data\presentations\2026-03-25_opening_continuation\assets\head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7" y="0"/>
            <a:ext cx="2609385" cy="658368"/>
          </a:xfrm>
          <a:prstGeom prst="rect">
            <a:avLst/>
          </a:prstGeom>
        </p:spPr>
      </p:pic>
      <p:pic>
        <p:nvPicPr>
          <p:cNvPr id="3" name="Image 1" descr="D:\graduation_project\coad\data\presentations\2026-03-25_opening_continuation\assets\header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748"/>
            <a:ext cx="2057400" cy="64887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30936"/>
            <a:ext cx="9144000" cy="0"/>
          </a:xfrm>
          <a:prstGeom prst="line">
            <a:avLst/>
          </a:prstGeom>
          <a:noFill/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1"/>
          <p:cNvSpPr/>
          <p:nvPr/>
        </p:nvSpPr>
        <p:spPr>
          <a:xfrm>
            <a:off x="8686800" y="65471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92608" y="8046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有了真值回证以后，v11 开始做 校准后的评分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310896" y="11704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这一步的目的不是把样本砍得更狠，而是让 短名单 的 精确率 / 召回率 处在更稳定的折中位置。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9184" y="1517904"/>
            <a:ext cx="5577840" cy="4526280"/>
          </a:xfrm>
          <a:prstGeom prst="roundRect">
            <a:avLst>
              <a:gd name="adj" fmla="val 1212"/>
            </a:avLst>
          </a:prstGeom>
          <a:solidFill>
            <a:srgbClr val="FCFDFE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457200" y="1591056"/>
            <a:ext cx="5321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校准摘要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44768" y="1517904"/>
            <a:ext cx="2743200" cy="4526280"/>
          </a:xfrm>
          <a:prstGeom prst="roundRect">
            <a:avLst>
              <a:gd name="adj" fmla="val 2000"/>
            </a:avLst>
          </a:prstGeom>
          <a:solidFill>
            <a:srgbClr val="FCFDFE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6272784" y="159105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推荐配置与解释</a:t>
            </a:r>
            <a:endParaRPr lang="en-US" sz="1200" dirty="0"/>
          </a:p>
        </p:txBody>
      </p:sp>
      <p:pic>
        <p:nvPicPr>
          <p:cNvPr id="12" name="Image 2" descr="D:\graduation_project\coad\data\presentations\2026-03-25_group_meeting_refresh_v2\assets\calibration_summary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84832"/>
            <a:ext cx="5303520" cy="3391553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55080" y="1828800"/>
            <a:ext cx="749808" cy="713232"/>
          </a:xfrm>
          <a:prstGeom prst="roundRect">
            <a:avLst>
              <a:gd name="adj" fmla="val 6410"/>
            </a:avLst>
          </a:prstGeom>
          <a:solidFill>
            <a:srgbClr val="D9E8F7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6378157" y="1873867"/>
            <a:ext cx="7036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 阈值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391656" y="2084832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7205472" y="1828800"/>
            <a:ext cx="749808" cy="713232"/>
          </a:xfrm>
          <a:prstGeom prst="roundRect">
            <a:avLst>
              <a:gd name="adj" fmla="val 6410"/>
            </a:avLst>
          </a:prstGeom>
          <a:solidFill>
            <a:srgbClr val="DDF2EF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7242048" y="190195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正增益 阈值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242048" y="2084832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055864" y="1828800"/>
            <a:ext cx="749808" cy="713232"/>
          </a:xfrm>
          <a:prstGeom prst="roundRect">
            <a:avLst>
              <a:gd name="adj" fmla="val 6410"/>
            </a:avLst>
          </a:prstGeom>
          <a:solidFill>
            <a:srgbClr val="F8EDC9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8101584" y="1873867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092440" y="2084832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83.3%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355080" y="2798064"/>
            <a:ext cx="2240280" cy="1700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校准样本来自 v9、v10 和 遗传算法 v1，共 22 条真实回证记录。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当前策略明显更强调 接触 稳定性，先保证 短名单 不在接触条件上塌掉。</a:t>
            </a:r>
            <a:endParaRPr lang="en-US" sz="1220" dirty="0"/>
          </a:p>
          <a:p>
            <a:pPr marL="185928" indent="-185928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 数据库 和 评分 已经形成闭环，不再是两条分开的线。</a:t>
            </a:r>
            <a:endParaRPr lang="en-US" sz="1220" dirty="0"/>
          </a:p>
        </p:txBody>
      </p:sp>
      <p:sp>
        <p:nvSpPr>
          <p:cNvPr id="23" name="Text 18"/>
          <p:cNvSpPr/>
          <p:nvPr/>
        </p:nvSpPr>
        <p:spPr>
          <a:xfrm>
            <a:off x="6355080" y="4931229"/>
            <a:ext cx="2286000" cy="408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4E5D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最优门槛: 筛后_数量 = 12, 真正例 = 10, 假正例 = 2, 假负例 = 6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graduation_project\coad\data\presentations\2026-03-25_opening_continuation\assets\header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7" y="0"/>
            <a:ext cx="2609385" cy="658368"/>
          </a:xfrm>
          <a:prstGeom prst="rect">
            <a:avLst/>
          </a:prstGeom>
        </p:spPr>
      </p:pic>
      <p:pic>
        <p:nvPicPr>
          <p:cNvPr id="3" name="Image 1" descr="D:\graduation_project\coad\data\presentations\2026-03-25_opening_continuation\assets\header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748"/>
            <a:ext cx="2057400" cy="64887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30936"/>
            <a:ext cx="9144000" cy="0"/>
          </a:xfrm>
          <a:prstGeom prst="line">
            <a:avLst/>
          </a:prstGeom>
          <a:noFill/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1"/>
          <p:cNvSpPr/>
          <p:nvPr/>
        </p:nvSpPr>
        <p:spPr>
          <a:xfrm>
            <a:off x="8686800" y="654710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92608" y="8046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下一步仍然沿着数据库-验证-校准这条主线推进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310896" y="117043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对应开题里的研究内容，这里把“数据库构建、代理模型、逆向设计”重新串成当前阶段真正的执行顺序。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29184" y="1517904"/>
            <a:ext cx="4160520" cy="4526280"/>
          </a:xfrm>
          <a:prstGeom prst="roundRect">
            <a:avLst>
              <a:gd name="adj" fmla="val 1319"/>
            </a:avLst>
          </a:prstGeom>
          <a:solidFill>
            <a:srgbClr val="FCFDFE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457200" y="1591056"/>
            <a:ext cx="3904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 2-3 周的优先级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00016" y="1517904"/>
            <a:ext cx="4187952" cy="4526280"/>
          </a:xfrm>
          <a:prstGeom prst="roundRect">
            <a:avLst>
              <a:gd name="adj" fmla="val 1310"/>
            </a:avLst>
          </a:prstGeom>
          <a:solidFill>
            <a:srgbClr val="FCFDFE"/>
          </a:solidFill>
          <a:ln w="12700">
            <a:solidFill>
              <a:srgbClr val="B9C9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4828032" y="15910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主线闭环示意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0352" y="1828800"/>
            <a:ext cx="374904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继续补一小轮 仅种子细化 / 白名单遗传算法 的真实 验证，把新样本持续回灌进数据库。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 接触 不稳定 族群 做误差归因，判断是 种子 选择、点位 选择还是几何接触脆弱性。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固定 3-4 主标签不变，让 候选清单 和 评分 规则继续随数据库更新。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0" y="1920240"/>
            <a:ext cx="2212848" cy="475488"/>
          </a:xfrm>
          <a:prstGeom prst="roundRect">
            <a:avLst>
              <a:gd name="adj" fmla="val 9615"/>
            </a:avLst>
          </a:prstGeom>
          <a:solidFill>
            <a:srgbClr val="D9E8F7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5669280" y="20482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数据库继续扩充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 rot="5400000">
            <a:off x="6501384" y="2432304"/>
            <a:ext cx="548640" cy="256032"/>
          </a:xfrm>
          <a:prstGeom prst="chevron">
            <a:avLst/>
          </a:prstGeom>
          <a:solidFill>
            <a:srgbClr val="1C4F96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5669280" y="2834640"/>
            <a:ext cx="2212848" cy="475488"/>
          </a:xfrm>
          <a:prstGeom prst="roundRect">
            <a:avLst>
              <a:gd name="adj" fmla="val 9615"/>
            </a:avLst>
          </a:prstGeom>
          <a:solidFill>
            <a:srgbClr val="DDF2EF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5669280" y="29626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真值回灌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 rot="5400000">
            <a:off x="6501384" y="3346704"/>
            <a:ext cx="548640" cy="256032"/>
          </a:xfrm>
          <a:prstGeom prst="chevron">
            <a:avLst/>
          </a:prstGeom>
          <a:solidFill>
            <a:srgbClr val="1C4F96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5669280" y="3749040"/>
            <a:ext cx="2212848" cy="475488"/>
          </a:xfrm>
          <a:prstGeom prst="roundRect">
            <a:avLst>
              <a:gd name="adj" fmla="val 9615"/>
            </a:avLst>
          </a:prstGeom>
          <a:solidFill>
            <a:srgbClr val="D9E8F7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5669280" y="38770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持续校准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 rot="5400000">
            <a:off x="6501384" y="4261104"/>
            <a:ext cx="548640" cy="256032"/>
          </a:xfrm>
          <a:prstGeom prst="chevron">
            <a:avLst/>
          </a:prstGeom>
          <a:solidFill>
            <a:srgbClr val="1C4F96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5669280" y="4663440"/>
            <a:ext cx="2212848" cy="475488"/>
          </a:xfrm>
          <a:prstGeom prst="roundRect">
            <a:avLst>
              <a:gd name="adj" fmla="val 9615"/>
            </a:avLst>
          </a:prstGeom>
          <a:solidFill>
            <a:srgbClr val="DDF2EF"/>
          </a:solidFill>
          <a:ln w="12700">
            <a:solidFill>
              <a:srgbClr val="1C4F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/>
          <p:nvPr/>
        </p:nvSpPr>
        <p:spPr>
          <a:xfrm>
            <a:off x="5669280" y="47914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白名单局部微调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985657" y="5214257"/>
            <a:ext cx="3563983" cy="674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E5D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和开题时相比，变化不在于研究目标变了，而在于“数据库构建”这一步已经长成了可以支撑后续 代理模型 和设计策略迭代的中枢。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der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34640" cy="658368"/>
          </a:xfrm>
          <a:prstGeom prst="rect">
            <a:avLst/>
          </a:prstGeom>
        </p:spPr>
      </p:pic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2057400" cy="65836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"/>
            <a:ext cx="9144000" cy="17780"/>
          </a:xfrm>
          <a:prstGeom prst="rect">
            <a:avLst/>
          </a:prstGeom>
          <a:solidFill>
            <a:srgbClr val="1C4F96"/>
          </a:solidFill>
          <a:ln>
            <a:solidFill>
              <a:srgbClr val="1C4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05088" y="6537960"/>
            <a:ext cx="23774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11111"/>
                </a:solidFill>
                <a:latin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762763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1"/>
          <p:cNvSpPr>
            <a:spLocks noChangeArrowheads="1"/>
          </p:cNvSpPr>
          <p:nvPr/>
        </p:nvSpPr>
        <p:spPr bwMode="auto">
          <a:xfrm>
            <a:off x="0" y="857250"/>
            <a:ext cx="9138285" cy="1774508"/>
          </a:xfrm>
          <a:prstGeom prst="rect">
            <a:avLst/>
          </a:prstGeom>
          <a:solidFill>
            <a:srgbClr val="004B9D"/>
          </a:solidFill>
          <a:ln w="9525">
            <a:solidFill>
              <a:srgbClr val="007FC5"/>
            </a:solidFill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342900">
              <a:defRPr/>
            </a:pPr>
            <a:endParaRPr b="1" dirty="0">
              <a:solidFill>
                <a:prstClr val="white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5592" y="4356931"/>
            <a:ext cx="7412817" cy="7335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02694" defTabSz="342900">
              <a:spcBef>
                <a:spcPts val="450"/>
              </a:spcBef>
              <a:spcAft>
                <a:spcPts val="900"/>
              </a:spcAft>
              <a:defRPr/>
            </a:pPr>
            <a:r>
              <a:rPr lang="zh-CN" altLang="en-US" sz="15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汇 报 人 ：</a:t>
            </a:r>
            <a:r>
              <a:rPr lang="zh-CN" altLang="en-US" sz="15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苏炫丞</a:t>
            </a:r>
            <a:endParaRPr lang="en-US" altLang="zh-CN" sz="15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2502694" defTabSz="342900">
              <a:spcBef>
                <a:spcPts val="450"/>
              </a:spcBef>
              <a:spcAft>
                <a:spcPts val="900"/>
              </a:spcAft>
              <a:defRPr/>
            </a:pPr>
            <a:r>
              <a:rPr lang="zh-CN" altLang="en-US" sz="15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指导教师：</a:t>
            </a:r>
            <a:r>
              <a:rPr lang="zh-CN" altLang="en-US" sz="15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朱绍伟</a:t>
            </a:r>
            <a:endParaRPr lang="en-US" altLang="zh-CN" sz="15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2032159"/>
            <a:ext cx="9144000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342900">
              <a:defRPr/>
            </a:pPr>
            <a:r>
              <a:rPr lang="zh-CN" altLang="en-US" sz="2700" b="1" spc="225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基于物理</a:t>
            </a:r>
            <a:r>
              <a:rPr lang="en-US" altLang="zh-CN" sz="2700" b="1" spc="225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-</a:t>
            </a:r>
            <a:r>
              <a:rPr lang="zh-CN" altLang="en-US" sz="2700" b="1" spc="225" dirty="0">
                <a:solidFill>
                  <a:srgbClr val="FFFF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数据协同优化算法的力学超结构设计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49112" y="5253538"/>
            <a:ext cx="1937857" cy="3000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342900">
              <a:defRPr/>
            </a:pPr>
            <a:r>
              <a:rPr lang="en-US" altLang="zh-CN" sz="135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2026.03.10</a:t>
            </a:r>
            <a:endParaRPr lang="zh-CN" altLang="en-US" sz="135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pic>
        <p:nvPicPr>
          <p:cNvPr id="6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994" y="1319213"/>
            <a:ext cx="1617821" cy="51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矩形: 剪去左右顶角 1023"/>
          <p:cNvSpPr/>
          <p:nvPr/>
        </p:nvSpPr>
        <p:spPr>
          <a:xfrm rot="10800000">
            <a:off x="2543175" y="858665"/>
            <a:ext cx="4110037" cy="309992"/>
          </a:xfrm>
          <a:prstGeom prst="snip2SameRect">
            <a:avLst>
              <a:gd name="adj1" fmla="val 45698"/>
              <a:gd name="adj2" fmla="val 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zh-CN" altLang="en-US" sz="1350" dirty="0">
              <a:solidFill>
                <a:srgbClr val="FFFFFF"/>
              </a:solidFill>
              <a:latin typeface="Times New Roman"/>
              <a:ea typeface="微软雅黑"/>
            </a:endParaRPr>
          </a:p>
        </p:txBody>
      </p:sp>
      <p:sp>
        <p:nvSpPr>
          <p:cNvPr id="1025" name="文本框 1024"/>
          <p:cNvSpPr txBox="1"/>
          <p:nvPr/>
        </p:nvSpPr>
        <p:spPr>
          <a:xfrm>
            <a:off x="1934713" y="883623"/>
            <a:ext cx="52689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spcBef>
                <a:spcPts val="450"/>
              </a:spcBef>
              <a:spcAft>
                <a:spcPts val="900"/>
              </a:spcAft>
              <a:defRPr/>
            </a:pPr>
            <a:r>
              <a:rPr lang="zh-CN" alt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毕业设计开题报告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6585" y="3094830"/>
            <a:ext cx="8730832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342900">
              <a:defRPr/>
            </a:pPr>
            <a:r>
              <a:rPr lang="zh-CN" altLang="en-US" sz="4500" b="1" spc="225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请各位评委老师批评指正！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52,50053121,50053160,50053246,50053008,50053044]}"/>
</p:tagLst>
</file>

<file path=ppt/theme/theme1.xml><?xml version="1.0" encoding="utf-8"?>
<a:theme xmlns:a="http://schemas.openxmlformats.org/drawingml/2006/main" name="1_Office 主题​​">
  <a:themeElements>
    <a:clrScheme name="自定义 183">
      <a:dk1>
        <a:srgbClr val="000000"/>
      </a:dk1>
      <a:lt1>
        <a:srgbClr val="FFFFFF"/>
      </a:lt1>
      <a:dk2>
        <a:srgbClr val="3D3F41"/>
      </a:dk2>
      <a:lt2>
        <a:srgbClr val="EEECE1"/>
      </a:lt2>
      <a:accent1>
        <a:srgbClr val="B80C0C"/>
      </a:accent1>
      <a:accent2>
        <a:srgbClr val="14498A"/>
      </a:accent2>
      <a:accent3>
        <a:srgbClr val="D36D8D"/>
      </a:accent3>
      <a:accent4>
        <a:srgbClr val="D46E5A"/>
      </a:accent4>
      <a:accent5>
        <a:srgbClr val="FCCF86"/>
      </a:accent5>
      <a:accent6>
        <a:srgbClr val="AA5ED4"/>
      </a:accent6>
      <a:hlink>
        <a:srgbClr val="00B0F0"/>
      </a:hlink>
      <a:folHlink>
        <a:srgbClr val="AFB2B4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83">
      <a:dk1>
        <a:srgbClr val="000000"/>
      </a:dk1>
      <a:lt1>
        <a:srgbClr val="FFFFFF"/>
      </a:lt1>
      <a:dk2>
        <a:srgbClr val="3D3F41"/>
      </a:dk2>
      <a:lt2>
        <a:srgbClr val="EEECE1"/>
      </a:lt2>
      <a:accent1>
        <a:srgbClr val="B80C0C"/>
      </a:accent1>
      <a:accent2>
        <a:srgbClr val="14498A"/>
      </a:accent2>
      <a:accent3>
        <a:srgbClr val="D36D8D"/>
      </a:accent3>
      <a:accent4>
        <a:srgbClr val="D46E5A"/>
      </a:accent4>
      <a:accent5>
        <a:srgbClr val="FCCF86"/>
      </a:accent5>
      <a:accent6>
        <a:srgbClr val="AA5ED4"/>
      </a:accent6>
      <a:hlink>
        <a:srgbClr val="00B0F0"/>
      </a:hlink>
      <a:folHlink>
        <a:srgbClr val="AFB2B4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</TotalTime>
  <Words>875</Words>
  <Application>Microsoft Office PowerPoint</Application>
  <PresentationFormat>全屏显示(4:3)</PresentationFormat>
  <Paragraphs>187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Noto Sans SC</vt:lpstr>
      <vt:lpstr>等线</vt:lpstr>
      <vt:lpstr>方正舒体</vt:lpstr>
      <vt:lpstr>华文中宋</vt:lpstr>
      <vt:lpstr>楷体</vt:lpstr>
      <vt:lpstr>宋体</vt:lpstr>
      <vt:lpstr>Microsoft YaHei</vt:lpstr>
      <vt:lpstr>Arial</vt:lpstr>
      <vt:lpstr>Calibri</vt:lpstr>
      <vt:lpstr>Consolas</vt:lpstr>
      <vt:lpstr>Times New Roman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</dc:title>
  <dc:creator>刘 思蜀</dc:creator>
  <cp:lastModifiedBy>炫丞 苏</cp:lastModifiedBy>
  <cp:revision>389</cp:revision>
  <dcterms:created xsi:type="dcterms:W3CDTF">2018-12-29T07:21:00Z</dcterms:created>
  <dcterms:modified xsi:type="dcterms:W3CDTF">2026-04-06T17:56:26Z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8D0B13706E29411A9786E02DDC3B1A31_12</vt:lpwstr>
  </property>
</Properties>
</file>